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56616"/>
            <a:ext cx="73152" cy="73152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42062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3D63D8"/>
                </a:solidFill>
                <a:latin typeface="Microsoft YaHei"/>
              </a:rPr>
              <a:t>2026 H1 OVERSEAS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09728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50" b="1" i="0">
                <a:solidFill>
                  <a:srgbClr val="102A43"/>
                </a:solidFill>
                <a:latin typeface="Microsoft YaHei"/>
              </a:rPr>
              <a:t>26年 H1 营销节点概览｜营销日历版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109728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86581"/>
                </a:solidFill>
                <a:latin typeface="Microsoft YaHei"/>
              </a:rPr>
              <a:t>以产品上新制造消费热点，以品牌节点扩大市场声量，以重点开业推动海外市场拓展。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29184"/>
            <a:ext cx="434340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189A1"/>
                </a:solidFill>
                <a:latin typeface="Microsoft YaHei"/>
              </a:rPr>
              <a:t>数据来源：年中述职 · H1 海外各国营销事件概览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371600"/>
            <a:ext cx="1444752" cy="54864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1472184"/>
            <a:ext cx="3200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6D3E"/>
                </a:solidFill>
                <a:latin typeface="Microsoft YaHe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1463040"/>
            <a:ext cx="85953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1" i="0">
                <a:solidFill>
                  <a:srgbClr val="486581"/>
                </a:solidFill>
                <a:latin typeface="Microsoft YaHei"/>
              </a:rPr>
              <a:t>产品 / 餐饮上线节点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371600"/>
            <a:ext cx="1444752" cy="548640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472184"/>
            <a:ext cx="3200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63D8"/>
                </a:solidFill>
                <a:latin typeface="Microsoft YaHe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1463040"/>
            <a:ext cx="85953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1" i="0">
                <a:solidFill>
                  <a:srgbClr val="486581"/>
                </a:solidFill>
                <a:latin typeface="Microsoft YaHei"/>
              </a:rPr>
              <a:t>品牌 / 营销关键节点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1371600"/>
            <a:ext cx="1444752" cy="548640"/>
          </a:xfrm>
          <a:prstGeom prst="roundRect">
            <a:avLst/>
          </a:prstGeom>
          <a:solidFill>
            <a:srgbClr val="EAF9F4"/>
          </a:solidFill>
          <a:ln w="9525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6688" y="1472184"/>
            <a:ext cx="3200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59A78"/>
                </a:solidFill>
                <a:latin typeface="Microsoft YaHe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2448" y="1463040"/>
            <a:ext cx="85953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1" i="0">
                <a:solidFill>
                  <a:srgbClr val="486581"/>
                </a:solidFill>
                <a:latin typeface="Microsoft YaHei"/>
              </a:rPr>
              <a:t>重点门店开业 · 4 个市场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066543"/>
            <a:ext cx="11183111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66543"/>
            <a:ext cx="11183111" cy="566928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185415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9CBE0"/>
                </a:solidFill>
                <a:latin typeface="Microsoft YaHei"/>
              </a:rPr>
              <a:t>MARKETING
CALENDAR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2066543"/>
            <a:ext cx="0" cy="3886201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66544" y="2157984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4832" y="2404872"/>
            <a:ext cx="1380743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B9CBE0"/>
                </a:solidFill>
                <a:latin typeface="Microsoft YaHei"/>
              </a:rPr>
              <a:t>JAN · 1月</a:t>
            </a:r>
          </a:p>
        </p:txBody>
      </p:sp>
      <p:sp>
        <p:nvSpPr>
          <p:cNvPr id="23" name="Oval 22"/>
          <p:cNvSpPr/>
          <p:nvPr/>
        </p:nvSpPr>
        <p:spPr>
          <a:xfrm>
            <a:off x="3465576" y="2583179"/>
            <a:ext cx="50292" cy="50292"/>
          </a:xfrm>
          <a:prstGeom prst="ellipse">
            <a:avLst/>
          </a:prstGeom>
          <a:solidFill>
            <a:srgbClr val="A9C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547872" y="2066543"/>
            <a:ext cx="0" cy="3886201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94176" y="2157984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2463" y="2404872"/>
            <a:ext cx="1380743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B9CBE0"/>
                </a:solidFill>
                <a:latin typeface="Microsoft YaHei"/>
              </a:rPr>
              <a:t>FEB · 2月</a:t>
            </a:r>
          </a:p>
        </p:txBody>
      </p:sp>
      <p:sp>
        <p:nvSpPr>
          <p:cNvPr id="27" name="Oval 26"/>
          <p:cNvSpPr/>
          <p:nvPr/>
        </p:nvSpPr>
        <p:spPr>
          <a:xfrm>
            <a:off x="5093207" y="2583179"/>
            <a:ext cx="50292" cy="50292"/>
          </a:xfrm>
          <a:prstGeom prst="ellipse">
            <a:avLst/>
          </a:prstGeom>
          <a:solidFill>
            <a:srgbClr val="A9C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175503" y="2066543"/>
            <a:ext cx="0" cy="3886201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21807" y="2157984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5" y="2404872"/>
            <a:ext cx="1380743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B9CBE0"/>
                </a:solidFill>
                <a:latin typeface="Microsoft YaHei"/>
              </a:rPr>
              <a:t>MAR · 3月</a:t>
            </a:r>
          </a:p>
        </p:txBody>
      </p:sp>
      <p:sp>
        <p:nvSpPr>
          <p:cNvPr id="31" name="Oval 30"/>
          <p:cNvSpPr/>
          <p:nvPr/>
        </p:nvSpPr>
        <p:spPr>
          <a:xfrm>
            <a:off x="6720839" y="2583179"/>
            <a:ext cx="50292" cy="50292"/>
          </a:xfrm>
          <a:prstGeom prst="ellipse">
            <a:avLst/>
          </a:prstGeom>
          <a:solidFill>
            <a:srgbClr val="A9C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03136" y="2066543"/>
            <a:ext cx="0" cy="3886201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49440" y="2157984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7" y="2404872"/>
            <a:ext cx="1380743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B9CBE0"/>
                </a:solidFill>
                <a:latin typeface="Microsoft YaHei"/>
              </a:rPr>
              <a:t>APR · 4月</a:t>
            </a:r>
          </a:p>
        </p:txBody>
      </p:sp>
      <p:sp>
        <p:nvSpPr>
          <p:cNvPr id="35" name="Oval 34"/>
          <p:cNvSpPr/>
          <p:nvPr/>
        </p:nvSpPr>
        <p:spPr>
          <a:xfrm>
            <a:off x="8348471" y="2583179"/>
            <a:ext cx="50292" cy="50292"/>
          </a:xfrm>
          <a:prstGeom prst="ellipse">
            <a:avLst/>
          </a:prstGeom>
          <a:solidFill>
            <a:srgbClr val="A9C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430767" y="2066543"/>
            <a:ext cx="0" cy="3886201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77072" y="2157984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59" y="2404872"/>
            <a:ext cx="1380743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B9CBE0"/>
                </a:solidFill>
                <a:latin typeface="Microsoft YaHei"/>
              </a:rPr>
              <a:t>MAY · 5月</a:t>
            </a:r>
          </a:p>
        </p:txBody>
      </p:sp>
      <p:sp>
        <p:nvSpPr>
          <p:cNvPr id="39" name="Oval 38"/>
          <p:cNvSpPr/>
          <p:nvPr/>
        </p:nvSpPr>
        <p:spPr>
          <a:xfrm>
            <a:off x="9976103" y="2583179"/>
            <a:ext cx="50292" cy="50292"/>
          </a:xfrm>
          <a:prstGeom prst="ellipse">
            <a:avLst/>
          </a:prstGeom>
          <a:solidFill>
            <a:srgbClr val="A9C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0058399" y="2066543"/>
            <a:ext cx="0" cy="3886201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204703" y="2157984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2991" y="2404872"/>
            <a:ext cx="1380743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B9CBE0"/>
                </a:solidFill>
                <a:latin typeface="Microsoft YaHei"/>
              </a:rPr>
              <a:t>JUN · 6月</a:t>
            </a:r>
          </a:p>
        </p:txBody>
      </p:sp>
      <p:sp>
        <p:nvSpPr>
          <p:cNvPr id="43" name="Oval 42"/>
          <p:cNvSpPr/>
          <p:nvPr/>
        </p:nvSpPr>
        <p:spPr>
          <a:xfrm>
            <a:off x="11603735" y="2583179"/>
            <a:ext cx="50292" cy="50292"/>
          </a:xfrm>
          <a:prstGeom prst="ellipse">
            <a:avLst/>
          </a:prstGeom>
          <a:solidFill>
            <a:srgbClr val="A9C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2633472"/>
            <a:ext cx="1417320" cy="1106424"/>
          </a:xfrm>
          <a:prstGeom prst="rect">
            <a:avLst/>
          </a:prstGeom>
          <a:solidFill>
            <a:srgbClr val="FFF2EC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2633472"/>
            <a:ext cx="41148" cy="1106424"/>
          </a:xfrm>
          <a:prstGeom prst="rect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2779776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E86D3E"/>
                </a:solidFill>
                <a:latin typeface="Microsoft YaHei"/>
              </a:rPr>
              <a:t>PRODUCT
LAUNCH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" y="3081528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Microsoft YaHei"/>
              </a:rPr>
              <a:t>产品上新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" y="331012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 i="0">
                <a:solidFill>
                  <a:srgbClr val="7189A1"/>
                </a:solidFill>
                <a:latin typeface="Microsoft YaHei"/>
              </a:rPr>
              <a:t>新品与餐饮产品节奏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920240" y="2633472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066544" y="2770632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547872" y="2633472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694176" y="2770632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75503" y="2633472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321807" y="2770632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803136" y="2633472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49440" y="2770632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430767" y="2633472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577072" y="2770632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058399" y="2633472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204703" y="2770632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502920" y="3739896"/>
            <a:ext cx="1417320" cy="1106424"/>
          </a:xfrm>
          <a:prstGeom prst="rect">
            <a:avLst/>
          </a:prstGeom>
          <a:solidFill>
            <a:srgbClr val="EEF3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2920" y="3739896"/>
            <a:ext cx="41148" cy="1106424"/>
          </a:xfrm>
          <a:prstGeom prst="rect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" y="3886200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3D63D8"/>
                </a:solidFill>
                <a:latin typeface="Microsoft YaHei"/>
              </a:rPr>
              <a:t>BRAND /
KEY MOMENT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" y="4187952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Microsoft YaHei"/>
              </a:rPr>
              <a:t>品牌 / 关键节点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4416552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 i="0">
                <a:solidFill>
                  <a:srgbClr val="7189A1"/>
                </a:solidFill>
                <a:latin typeface="Microsoft YaHei"/>
              </a:rPr>
              <a:t>节日、代言、渠道营销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2920" y="3739896"/>
            <a:ext cx="11183112" cy="0"/>
          </a:xfrm>
          <a:prstGeom prst="line">
            <a:avLst/>
          </a:prstGeom>
          <a:ln w="762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920240" y="3739896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66544" y="3877056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547872" y="3739896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694176" y="3877056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175503" y="3739896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321807" y="3877056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803136" y="3739896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49440" y="3877056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430767" y="3739896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577072" y="3877056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058399" y="3739896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204703" y="3877056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02920" y="4846320"/>
            <a:ext cx="1417320" cy="1106424"/>
          </a:xfrm>
          <a:prstGeom prst="rect">
            <a:avLst/>
          </a:prstGeom>
          <a:solidFill>
            <a:srgbClr val="EAF9F4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02920" y="4846320"/>
            <a:ext cx="41148" cy="1106424"/>
          </a:xfrm>
          <a:prstGeom prst="rect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" y="4992624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159A78"/>
                </a:solidFill>
                <a:latin typeface="Microsoft YaHei"/>
              </a:rPr>
              <a:t>MARKET
EXPANSION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7512" y="5294376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Microsoft YaHei"/>
              </a:rPr>
              <a:t>市场拓展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512" y="55229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 i="0">
                <a:solidFill>
                  <a:srgbClr val="7189A1"/>
                </a:solidFill>
                <a:latin typeface="Microsoft YaHei"/>
              </a:rPr>
              <a:t>重点市场开业布局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02920" y="4846320"/>
            <a:ext cx="11183112" cy="0"/>
          </a:xfrm>
          <a:prstGeom prst="line">
            <a:avLst/>
          </a:prstGeom>
          <a:ln w="762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920240" y="4846320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66544" y="4983480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547872" y="4846320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694176" y="4983480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75503" y="4846320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321807" y="4983480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803136" y="4846320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949440" y="4983480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0767" y="4846320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77072" y="4983480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058399" y="4846320"/>
            <a:ext cx="0" cy="1106424"/>
          </a:xfrm>
          <a:prstGeom prst="line">
            <a:avLst/>
          </a:prstGeom>
          <a:ln w="571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204703" y="4983480"/>
            <a:ext cx="0" cy="850392"/>
          </a:xfrm>
          <a:prstGeom prst="line">
            <a:avLst/>
          </a:prstGeom>
          <a:ln w="5715">
            <a:solidFill>
              <a:srgbClr val="E5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2104948" y="2856585"/>
            <a:ext cx="87782" cy="87782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2148840" y="2761488"/>
            <a:ext cx="1261871" cy="27432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21992" y="2811780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A43E20"/>
                </a:solidFill>
                <a:latin typeface="Microsoft YaHei"/>
              </a:rPr>
              <a:t>大红袍系列上新</a:t>
            </a:r>
          </a:p>
        </p:txBody>
      </p:sp>
      <p:sp>
        <p:nvSpPr>
          <p:cNvPr id="100" name="Oval 99"/>
          <p:cNvSpPr/>
          <p:nvPr/>
        </p:nvSpPr>
        <p:spPr>
          <a:xfrm>
            <a:off x="3732580" y="2856585"/>
            <a:ext cx="87782" cy="87782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3776472" y="2761488"/>
            <a:ext cx="1261871" cy="27432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849624" y="2811780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A43E20"/>
                </a:solidFill>
                <a:latin typeface="Microsoft YaHei"/>
              </a:rPr>
              <a:t>五黑系列上新</a:t>
            </a:r>
          </a:p>
        </p:txBody>
      </p:sp>
      <p:sp>
        <p:nvSpPr>
          <p:cNvPr id="103" name="Oval 102"/>
          <p:cNvSpPr/>
          <p:nvPr/>
        </p:nvSpPr>
        <p:spPr>
          <a:xfrm>
            <a:off x="5360212" y="2856585"/>
            <a:ext cx="87782" cy="87782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404103" y="2761488"/>
            <a:ext cx="1261871" cy="27432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77255" y="2811780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A43E20"/>
                </a:solidFill>
                <a:latin typeface="Microsoft YaHei"/>
              </a:rPr>
              <a:t>五黄系列上新</a:t>
            </a:r>
          </a:p>
        </p:txBody>
      </p:sp>
      <p:sp>
        <p:nvSpPr>
          <p:cNvPr id="106" name="Oval 105"/>
          <p:cNvSpPr/>
          <p:nvPr/>
        </p:nvSpPr>
        <p:spPr>
          <a:xfrm>
            <a:off x="5360212" y="3231489"/>
            <a:ext cx="87782" cy="87782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404103" y="3136392"/>
            <a:ext cx="1261871" cy="27432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77255" y="3186684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A43E20"/>
                </a:solidFill>
                <a:latin typeface="Microsoft YaHei"/>
              </a:rPr>
              <a:t>布蕾系列上新</a:t>
            </a:r>
          </a:p>
        </p:txBody>
      </p:sp>
      <p:sp>
        <p:nvSpPr>
          <p:cNvPr id="109" name="Oval 108"/>
          <p:cNvSpPr/>
          <p:nvPr/>
        </p:nvSpPr>
        <p:spPr>
          <a:xfrm>
            <a:off x="6987844" y="2856585"/>
            <a:ext cx="87782" cy="87782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031736" y="2761488"/>
            <a:ext cx="1261871" cy="27432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04888" y="2811780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A43E20"/>
                </a:solidFill>
                <a:latin typeface="Microsoft YaHei"/>
              </a:rPr>
              <a:t>杏果蔬系列上新</a:t>
            </a:r>
          </a:p>
        </p:txBody>
      </p:sp>
      <p:sp>
        <p:nvSpPr>
          <p:cNvPr id="112" name="Oval 111"/>
          <p:cNvSpPr/>
          <p:nvPr/>
        </p:nvSpPr>
        <p:spPr>
          <a:xfrm>
            <a:off x="8615476" y="2856585"/>
            <a:ext cx="87782" cy="87782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659367" y="2761488"/>
            <a:ext cx="1261871" cy="27432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732519" y="2811780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A43E20"/>
                </a:solidFill>
                <a:latin typeface="Microsoft YaHei"/>
              </a:rPr>
              <a:t>抹茶系列上新</a:t>
            </a:r>
          </a:p>
        </p:txBody>
      </p:sp>
      <p:sp>
        <p:nvSpPr>
          <p:cNvPr id="115" name="Oval 114"/>
          <p:cNvSpPr/>
          <p:nvPr/>
        </p:nvSpPr>
        <p:spPr>
          <a:xfrm>
            <a:off x="8615476" y="3231489"/>
            <a:ext cx="87782" cy="87782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659367" y="3136392"/>
            <a:ext cx="1261871" cy="27432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732519" y="3186684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A43E20"/>
                </a:solidFill>
                <a:latin typeface="Microsoft YaHei"/>
              </a:rPr>
              <a:t>龙井系列上新</a:t>
            </a:r>
          </a:p>
        </p:txBody>
      </p:sp>
      <p:sp>
        <p:nvSpPr>
          <p:cNvPr id="118" name="Oval 117"/>
          <p:cNvSpPr/>
          <p:nvPr/>
        </p:nvSpPr>
        <p:spPr>
          <a:xfrm>
            <a:off x="10243108" y="2856585"/>
            <a:ext cx="87782" cy="87782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0286999" y="2761488"/>
            <a:ext cx="1261871" cy="27432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360151" y="2811780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A43E20"/>
                </a:solidFill>
                <a:latin typeface="Microsoft YaHei"/>
              </a:rPr>
              <a:t>世界杯团餐
产品上线</a:t>
            </a:r>
          </a:p>
        </p:txBody>
      </p:sp>
      <p:sp>
        <p:nvSpPr>
          <p:cNvPr id="121" name="Oval 120"/>
          <p:cNvSpPr/>
          <p:nvPr/>
        </p:nvSpPr>
        <p:spPr>
          <a:xfrm>
            <a:off x="2104948" y="3972153"/>
            <a:ext cx="87782" cy="87782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2148840" y="3877056"/>
            <a:ext cx="1261871" cy="274320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221992" y="3927348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384CB2"/>
                </a:solidFill>
                <a:latin typeface="Microsoft YaHei"/>
              </a:rPr>
              <a:t>元旦活动</a:t>
            </a:r>
          </a:p>
        </p:txBody>
      </p:sp>
      <p:sp>
        <p:nvSpPr>
          <p:cNvPr id="124" name="Oval 123"/>
          <p:cNvSpPr/>
          <p:nvPr/>
        </p:nvSpPr>
        <p:spPr>
          <a:xfrm>
            <a:off x="2104948" y="4347057"/>
            <a:ext cx="87782" cy="87782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2148840" y="4251960"/>
            <a:ext cx="1261871" cy="274320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221992" y="4302252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384CB2"/>
                </a:solidFill>
                <a:latin typeface="Microsoft YaHei"/>
              </a:rPr>
              <a:t>鞠婧祎全球品牌
代言人官宣</a:t>
            </a:r>
          </a:p>
        </p:txBody>
      </p:sp>
      <p:sp>
        <p:nvSpPr>
          <p:cNvPr id="127" name="Oval 126"/>
          <p:cNvSpPr/>
          <p:nvPr/>
        </p:nvSpPr>
        <p:spPr>
          <a:xfrm>
            <a:off x="3732580" y="3972153"/>
            <a:ext cx="87782" cy="87782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3776472" y="3877056"/>
            <a:ext cx="1261871" cy="274320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849624" y="3927348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384CB2"/>
                </a:solidFill>
                <a:latin typeface="Microsoft YaHei"/>
              </a:rPr>
              <a:t>春节（CNY）营销</a:t>
            </a:r>
          </a:p>
        </p:txBody>
      </p:sp>
      <p:sp>
        <p:nvSpPr>
          <p:cNvPr id="130" name="Oval 129"/>
          <p:cNvSpPr/>
          <p:nvPr/>
        </p:nvSpPr>
        <p:spPr>
          <a:xfrm>
            <a:off x="8615476" y="3972153"/>
            <a:ext cx="87782" cy="87782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8659367" y="3877056"/>
            <a:ext cx="1261871" cy="274320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732519" y="3927348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384CB2"/>
                </a:solidFill>
                <a:latin typeface="Microsoft YaHei"/>
              </a:rPr>
              <a:t>美国母亲节营销</a:t>
            </a:r>
          </a:p>
        </p:txBody>
      </p:sp>
      <p:sp>
        <p:nvSpPr>
          <p:cNvPr id="133" name="Oval 132"/>
          <p:cNvSpPr/>
          <p:nvPr/>
        </p:nvSpPr>
        <p:spPr>
          <a:xfrm>
            <a:off x="10243108" y="3972153"/>
            <a:ext cx="87782" cy="87782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0286999" y="3877056"/>
            <a:ext cx="1261871" cy="274320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360151" y="3927348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384CB2"/>
                </a:solidFill>
                <a:latin typeface="Microsoft YaHei"/>
              </a:rPr>
              <a:t>渠道促销及
库存物料支持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440679" y="4187952"/>
            <a:ext cx="1307591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9AAABD"/>
                </a:solidFill>
                <a:latin typeface="Microsoft YaHei"/>
              </a:rPr>
              <a:t>—  无重点节点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68312" y="4187952"/>
            <a:ext cx="1307591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9AAABD"/>
                </a:solidFill>
                <a:latin typeface="Microsoft YaHei"/>
              </a:rPr>
              <a:t>—  无重点节点</a:t>
            </a:r>
          </a:p>
        </p:txBody>
      </p:sp>
      <p:sp>
        <p:nvSpPr>
          <p:cNvPr id="138" name="Oval 137"/>
          <p:cNvSpPr/>
          <p:nvPr/>
        </p:nvSpPr>
        <p:spPr>
          <a:xfrm>
            <a:off x="3732580" y="5078577"/>
            <a:ext cx="87782" cy="87782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3776472" y="4983480"/>
            <a:ext cx="1261871" cy="274320"/>
          </a:xfrm>
          <a:prstGeom prst="roundRect">
            <a:avLst/>
          </a:prstGeom>
          <a:solidFill>
            <a:srgbClr val="EAF9F4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849624" y="5033772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0B765A"/>
                </a:solidFill>
                <a:latin typeface="Microsoft YaHei"/>
              </a:rPr>
              <a:t>英国首店开业</a:t>
            </a:r>
          </a:p>
        </p:txBody>
      </p:sp>
      <p:sp>
        <p:nvSpPr>
          <p:cNvPr id="141" name="Oval 140"/>
          <p:cNvSpPr/>
          <p:nvPr/>
        </p:nvSpPr>
        <p:spPr>
          <a:xfrm>
            <a:off x="3732580" y="5453481"/>
            <a:ext cx="87782" cy="87782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3776472" y="5358384"/>
            <a:ext cx="1261871" cy="274320"/>
          </a:xfrm>
          <a:prstGeom prst="roundRect">
            <a:avLst/>
          </a:prstGeom>
          <a:solidFill>
            <a:srgbClr val="EAF9F4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849624" y="5408676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0B765A"/>
                </a:solidFill>
                <a:latin typeface="Microsoft YaHei"/>
              </a:rPr>
              <a:t>美国南加州
San Gabriel Valley 店开业</a:t>
            </a:r>
          </a:p>
        </p:txBody>
      </p:sp>
      <p:sp>
        <p:nvSpPr>
          <p:cNvPr id="144" name="Oval 143"/>
          <p:cNvSpPr/>
          <p:nvPr/>
        </p:nvSpPr>
        <p:spPr>
          <a:xfrm>
            <a:off x="5360212" y="5078577"/>
            <a:ext cx="87782" cy="87782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5404103" y="4983480"/>
            <a:ext cx="1261871" cy="274320"/>
          </a:xfrm>
          <a:prstGeom prst="roundRect">
            <a:avLst/>
          </a:prstGeom>
          <a:solidFill>
            <a:srgbClr val="EAF9F4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477255" y="5033772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0B765A"/>
                </a:solidFill>
                <a:latin typeface="Microsoft YaHei"/>
              </a:rPr>
              <a:t>澳洲首店开业</a:t>
            </a:r>
          </a:p>
        </p:txBody>
      </p:sp>
      <p:sp>
        <p:nvSpPr>
          <p:cNvPr id="147" name="Oval 146"/>
          <p:cNvSpPr/>
          <p:nvPr/>
        </p:nvSpPr>
        <p:spPr>
          <a:xfrm>
            <a:off x="5360212" y="5453481"/>
            <a:ext cx="87782" cy="87782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5404103" y="5358384"/>
            <a:ext cx="1261871" cy="274320"/>
          </a:xfrm>
          <a:prstGeom prst="roundRect">
            <a:avLst/>
          </a:prstGeom>
          <a:solidFill>
            <a:srgbClr val="EAF9F4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477255" y="5408676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0B765A"/>
                </a:solidFill>
                <a:latin typeface="Microsoft YaHei"/>
              </a:rPr>
              <a:t>韩国双店齐开</a:t>
            </a:r>
          </a:p>
        </p:txBody>
      </p:sp>
      <p:sp>
        <p:nvSpPr>
          <p:cNvPr id="150" name="Oval 149"/>
          <p:cNvSpPr/>
          <p:nvPr/>
        </p:nvSpPr>
        <p:spPr>
          <a:xfrm>
            <a:off x="8615476" y="5078577"/>
            <a:ext cx="87782" cy="87782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8659367" y="4983480"/>
            <a:ext cx="1261871" cy="274320"/>
          </a:xfrm>
          <a:prstGeom prst="roundRect">
            <a:avLst/>
          </a:prstGeom>
          <a:solidFill>
            <a:srgbClr val="EAF9F4"/>
          </a:solidFill>
          <a:ln w="9525">
            <a:solidFill>
              <a:srgbClr val="D8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732519" y="5033772"/>
            <a:ext cx="1124711" cy="20116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0B765A"/>
                </a:solidFill>
                <a:latin typeface="Microsoft YaHei"/>
              </a:rPr>
              <a:t>澳洲 Chinatown 店开业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185416" y="5294376"/>
            <a:ext cx="1307591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9AAABD"/>
                </a:solidFill>
                <a:latin typeface="Microsoft YaHei"/>
              </a:rPr>
              <a:t>—  无开业节点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068312" y="5294376"/>
            <a:ext cx="1307591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9AAABD"/>
                </a:solidFill>
                <a:latin typeface="Microsoft YaHei"/>
              </a:rPr>
              <a:t>—  无开业节点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23575" y="5294376"/>
            <a:ext cx="1307591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9AAABD"/>
                </a:solidFill>
                <a:latin typeface="Microsoft YaHei"/>
              </a:rPr>
              <a:t>—  无开业节点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502920" y="5623560"/>
            <a:ext cx="3584448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30936" y="5715000"/>
            <a:ext cx="324612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E86D3E"/>
                </a:solidFill>
                <a:latin typeface="Microsoft YaHei"/>
              </a:rPr>
              <a:t>01 · PRODUCT RHYTHM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0936" y="5833872"/>
            <a:ext cx="324612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102A43"/>
                </a:solidFill>
                <a:latin typeface="Microsoft YaHei"/>
              </a:rPr>
              <a:t>连续 6 个月保持产品动作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30936" y="6016752"/>
            <a:ext cx="324612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7189A1"/>
                </a:solidFill>
                <a:latin typeface="Microsoft YaHei"/>
              </a:rPr>
              <a:t>通过产品系列上新与世界杯团餐产品，持续制造消费者沟通与门店转化机会。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251959" y="5623560"/>
            <a:ext cx="3584448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379975" y="5715000"/>
            <a:ext cx="324612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3D63D8"/>
                </a:solidFill>
                <a:latin typeface="Microsoft YaHei"/>
              </a:rPr>
              <a:t>02 · BRAND MOMENT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379975" y="5833872"/>
            <a:ext cx="324612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102A43"/>
                </a:solidFill>
                <a:latin typeface="Microsoft YaHei"/>
              </a:rPr>
              <a:t>节日 × 代言 × 渠道协同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379975" y="6016752"/>
            <a:ext cx="324612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7189A1"/>
                </a:solidFill>
                <a:latin typeface="Microsoft YaHei"/>
              </a:rPr>
              <a:t>覆盖元旦、春节、母亲节、代言人及渠道推广等重点品牌节点。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001000" y="5623560"/>
            <a:ext cx="3584448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129016" y="5715000"/>
            <a:ext cx="324612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159A78"/>
                </a:solidFill>
                <a:latin typeface="Microsoft YaHei"/>
              </a:rPr>
              <a:t>03 · MARKET EXPANSION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129016" y="5833872"/>
            <a:ext cx="324612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102A43"/>
                </a:solidFill>
                <a:latin typeface="Microsoft YaHei"/>
              </a:rPr>
              <a:t>4 个市场，6 家重点门店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129016" y="6016752"/>
            <a:ext cx="324612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7189A1"/>
                </a:solidFill>
                <a:latin typeface="Microsoft YaHei"/>
              </a:rPr>
              <a:t>英国、美国、澳洲、韩国持续开店，为本地声量与新店冷启动提供营销支持。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502920" y="6547104"/>
            <a:ext cx="987552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7189A1"/>
                </a:solidFill>
                <a:latin typeface="Microsoft YaHei"/>
              </a:rPr>
              <a:t>注：基于源文件中的 H1 事件文本与原始表格整理；所有内容、卡片、连线均可在 PowerPoint 中编辑。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018520" y="6519672"/>
            <a:ext cx="64008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189A1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56616"/>
            <a:ext cx="73152" cy="73152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42062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3D63D8"/>
                </a:solidFill>
                <a:latin typeface="Microsoft YaHei"/>
              </a:rPr>
              <a:t>H1 MARKETING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09728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50" b="1" i="0">
                <a:solidFill>
                  <a:srgbClr val="102A43"/>
                </a:solidFill>
                <a:latin typeface="Microsoft YaHei"/>
              </a:rPr>
              <a:t>能力架构与资产复用闭环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109728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86581"/>
                </a:solidFill>
                <a:latin typeface="Microsoft YaHei"/>
              </a:rPr>
              <a:t>以业务增长为牵引，将策略、战役、渠道与用户运营沉淀为可标准化、可本地化、可多国复用的营销能力。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29184"/>
            <a:ext cx="434340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189A1"/>
                </a:solidFill>
                <a:latin typeface="Microsoft YaHei"/>
              </a:rPr>
              <a:t>数据来源：年中述职 · 全球营销体系 / 新品上市 / 海外开业 / 会员与渠道运营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26464"/>
            <a:ext cx="27889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26464"/>
            <a:ext cx="45720" cy="530352"/>
          </a:xfrm>
          <a:prstGeom prst="rect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27048"/>
            <a:ext cx="237744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3D63D8"/>
                </a:solidFill>
                <a:latin typeface="Microsoft YaHei"/>
              </a:rPr>
              <a:t>BUSINESS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673352"/>
            <a:ext cx="24688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A43"/>
                </a:solidFill>
                <a:latin typeface="Microsoft YaHei"/>
              </a:rPr>
              <a:t>Growth 驱动 Build，Build 赋能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426464"/>
            <a:ext cx="190195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02736" y="1581912"/>
            <a:ext cx="219456" cy="219456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1536192"/>
            <a:ext cx="135331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102A43"/>
                </a:solidFill>
                <a:latin typeface="Microsoft YaHei"/>
              </a:rPr>
              <a:t>业绩与客流增长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691640"/>
            <a:ext cx="1353312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 i="0">
                <a:solidFill>
                  <a:srgbClr val="7189A1"/>
                </a:solidFill>
                <a:latin typeface="Microsoft YaHei"/>
              </a:rPr>
              <a:t>新品、门店、渠道协同转化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95544" y="1426464"/>
            <a:ext cx="190195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41848" y="1581912"/>
            <a:ext cx="219456" cy="219456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34456" y="1536192"/>
            <a:ext cx="135331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102A43"/>
                </a:solidFill>
                <a:latin typeface="Microsoft YaHei"/>
              </a:rPr>
              <a:t>品牌声量与认知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4456" y="1691640"/>
            <a:ext cx="1353312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 i="0">
                <a:solidFill>
                  <a:srgbClr val="7189A1"/>
                </a:solidFill>
                <a:latin typeface="Microsoft YaHei"/>
              </a:rPr>
              <a:t>市场首发、内容传播、品牌一致性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34656" y="1426464"/>
            <a:ext cx="190195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0" y="1581912"/>
            <a:ext cx="219456" cy="219456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1536192"/>
            <a:ext cx="135331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102A43"/>
                </a:solidFill>
                <a:latin typeface="Microsoft YaHei"/>
              </a:rPr>
              <a:t>用户资产与留存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1691640"/>
            <a:ext cx="1353312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 i="0">
                <a:solidFill>
                  <a:srgbClr val="7189A1"/>
                </a:solidFill>
                <a:latin typeface="Microsoft YaHei"/>
              </a:rPr>
              <a:t>会员体系、APP、触达与复购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3767" y="1426464"/>
            <a:ext cx="190195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581912"/>
            <a:ext cx="219456" cy="219456"/>
          </a:xfrm>
          <a:prstGeom prst="ellipse">
            <a:avLst/>
          </a:prstGeom>
          <a:solidFill>
            <a:srgbClr val="7D5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536192"/>
            <a:ext cx="135331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102A43"/>
                </a:solidFill>
                <a:latin typeface="Microsoft YaHei"/>
              </a:rPr>
              <a:t>规模化与资源效率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1691640"/>
            <a:ext cx="1353312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 i="0">
                <a:solidFill>
                  <a:srgbClr val="7189A1"/>
                </a:solidFill>
                <a:latin typeface="Microsoft YaHei"/>
              </a:rPr>
              <a:t>标准资产、多国复用、协同提效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157984"/>
            <a:ext cx="2194560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3D63D8"/>
                </a:solidFill>
                <a:latin typeface="Microsoft YaHei"/>
              </a:rPr>
              <a:t>CAPABILITY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185416"/>
            <a:ext cx="164592" cy="22860"/>
          </a:xfrm>
          <a:prstGeom prst="rect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322576"/>
            <a:ext cx="7498079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Microsoft YaHei"/>
              </a:rPr>
              <a:t>营销能力架构：四大能力模块，共享一个方法论中台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322576"/>
            <a:ext cx="406908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7189A1"/>
                </a:solidFill>
                <a:latin typeface="Microsoft YaHei"/>
              </a:rPr>
              <a:t>从“完成项目”升级为“建设体系”  ·  用标准化保障效率，用本地化提升适配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2724912"/>
            <a:ext cx="2624328" cy="1508760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224" y="2852928"/>
            <a:ext cx="566928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857500"/>
            <a:ext cx="512064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1" i="0">
                <a:solidFill>
                  <a:srgbClr val="3D63D8"/>
                </a:solidFill>
                <a:latin typeface="Microsoft YaHei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5768" y="28254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3D63D8"/>
                </a:solidFill>
                <a:latin typeface="Microsoft YaHei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3136392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Microsoft YaHei"/>
              </a:rPr>
              <a:t>策略规划
与节奏管理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3511296"/>
            <a:ext cx="23317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486581"/>
                </a:solidFill>
                <a:latin typeface="Microsoft YaHei"/>
              </a:rPr>
              <a:t>统一业务目标、国家需求与年度营销节奏，提升前置规划能力。</a:t>
            </a:r>
          </a:p>
        </p:txBody>
      </p:sp>
      <p:sp>
        <p:nvSpPr>
          <p:cNvPr id="38" name="Oval 37"/>
          <p:cNvSpPr/>
          <p:nvPr/>
        </p:nvSpPr>
        <p:spPr>
          <a:xfrm>
            <a:off x="676656" y="3950207"/>
            <a:ext cx="41148" cy="41148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895344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Global Marketing Calendar</a:t>
            </a:r>
          </a:p>
        </p:txBody>
      </p:sp>
      <p:sp>
        <p:nvSpPr>
          <p:cNvPr id="40" name="Oval 39"/>
          <p:cNvSpPr/>
          <p:nvPr/>
        </p:nvSpPr>
        <p:spPr>
          <a:xfrm>
            <a:off x="676656" y="4160520"/>
            <a:ext cx="41148" cy="41148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105656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Campaign Strategy / IMC 方案</a:t>
            </a:r>
          </a:p>
        </p:txBody>
      </p:sp>
      <p:sp>
        <p:nvSpPr>
          <p:cNvPr id="42" name="Oval 41"/>
          <p:cNvSpPr/>
          <p:nvPr/>
        </p:nvSpPr>
        <p:spPr>
          <a:xfrm>
            <a:off x="676656" y="4370832"/>
            <a:ext cx="41148" cy="41148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315968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国家需求与项目优先级管理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815084" y="4233672"/>
            <a:ext cx="0" cy="137160"/>
          </a:xfrm>
          <a:prstGeom prst="line">
            <a:avLst/>
          </a:prstGeom>
          <a:ln w="10160">
            <a:solidFill>
              <a:srgbClr val="3D6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778508" y="4334256"/>
            <a:ext cx="73152" cy="73152"/>
          </a:xfrm>
          <a:prstGeom prst="ellipse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37560" y="2724912"/>
            <a:ext cx="2624328" cy="1508760"/>
          </a:xfrm>
          <a:prstGeom prst="roundRect">
            <a:avLst/>
          </a:prstGeom>
          <a:solidFill>
            <a:srgbClr val="FFF2EC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83864" y="2852928"/>
            <a:ext cx="566928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11296" y="2857500"/>
            <a:ext cx="512064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1" i="0">
                <a:solidFill>
                  <a:srgbClr val="E86D3E"/>
                </a:solidFill>
                <a:latin typeface="Microsoft YaHei"/>
              </a:rPr>
              <a:t>GROWTH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50408" y="28254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E86D3E"/>
                </a:solidFill>
                <a:latin typeface="Microsoft YaHei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3864" y="3136392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Microsoft YaHei"/>
              </a:rPr>
              <a:t>新品上市
与开业战役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83864" y="3511296"/>
            <a:ext cx="23317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486581"/>
                </a:solidFill>
                <a:latin typeface="Microsoft YaHei"/>
              </a:rPr>
              <a:t>围绕产品与门店关键节点，驱动认知、试用、到店与转化。</a:t>
            </a:r>
          </a:p>
        </p:txBody>
      </p:sp>
      <p:sp>
        <p:nvSpPr>
          <p:cNvPr id="52" name="Oval 51"/>
          <p:cNvSpPr/>
          <p:nvPr/>
        </p:nvSpPr>
        <p:spPr>
          <a:xfrm>
            <a:off x="3511296" y="3950207"/>
            <a:ext cx="41148" cy="41148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11880" y="3895344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Product Launch Playbook</a:t>
            </a:r>
          </a:p>
        </p:txBody>
      </p:sp>
      <p:sp>
        <p:nvSpPr>
          <p:cNvPr id="54" name="Oval 53"/>
          <p:cNvSpPr/>
          <p:nvPr/>
        </p:nvSpPr>
        <p:spPr>
          <a:xfrm>
            <a:off x="3511296" y="4160520"/>
            <a:ext cx="41148" cy="41148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11880" y="4105656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Opening Playbook / Timeline</a:t>
            </a:r>
          </a:p>
        </p:txBody>
      </p:sp>
      <p:sp>
        <p:nvSpPr>
          <p:cNvPr id="56" name="Oval 55"/>
          <p:cNvSpPr/>
          <p:nvPr/>
        </p:nvSpPr>
        <p:spPr>
          <a:xfrm>
            <a:off x="3511296" y="4370832"/>
            <a:ext cx="41148" cy="41148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4315968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品牌、PR、社媒与门店整合传播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649724" y="4233672"/>
            <a:ext cx="0" cy="137160"/>
          </a:xfrm>
          <a:prstGeom prst="line">
            <a:avLst/>
          </a:prstGeom>
          <a:ln w="10160">
            <a:solidFill>
              <a:srgbClr val="E86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613148" y="4334256"/>
            <a:ext cx="73152" cy="73152"/>
          </a:xfrm>
          <a:prstGeom prst="ellipse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72200" y="2724912"/>
            <a:ext cx="2624328" cy="1508760"/>
          </a:xfrm>
          <a:prstGeom prst="roundRect">
            <a:avLst/>
          </a:prstGeom>
          <a:solidFill>
            <a:srgbClr val="EAF9F4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18504" y="2852928"/>
            <a:ext cx="566928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45936" y="2857500"/>
            <a:ext cx="512064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1" i="0">
                <a:solidFill>
                  <a:srgbClr val="159A78"/>
                </a:solidFill>
                <a:latin typeface="Microsoft YaHei"/>
              </a:rPr>
              <a:t>GROWTH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5048" y="28254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159A78"/>
                </a:solidFill>
                <a:latin typeface="Microsoft YaHei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18504" y="3136392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Microsoft YaHei"/>
              </a:rPr>
              <a:t>渠道增长
与用户运营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18504" y="3511296"/>
            <a:ext cx="23317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486581"/>
                </a:solidFill>
                <a:latin typeface="Microsoft YaHei"/>
              </a:rPr>
              <a:t>连接线上线下渠道与数字化用户，实现拉新、转化、留存闭环。</a:t>
            </a:r>
          </a:p>
        </p:txBody>
      </p:sp>
      <p:sp>
        <p:nvSpPr>
          <p:cNvPr id="66" name="Oval 65"/>
          <p:cNvSpPr/>
          <p:nvPr/>
        </p:nvSpPr>
        <p:spPr>
          <a:xfrm>
            <a:off x="6345936" y="3950207"/>
            <a:ext cx="41148" cy="41148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3895344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线上 / 线下 / 外卖渠道运营</a:t>
            </a:r>
          </a:p>
        </p:txBody>
      </p:sp>
      <p:sp>
        <p:nvSpPr>
          <p:cNvPr id="68" name="Oval 67"/>
          <p:cNvSpPr/>
          <p:nvPr/>
        </p:nvSpPr>
        <p:spPr>
          <a:xfrm>
            <a:off x="6345936" y="4160520"/>
            <a:ext cx="41148" cy="41148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4105656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APP 会员、积分与优惠券能力</a:t>
            </a:r>
          </a:p>
        </p:txBody>
      </p:sp>
      <p:sp>
        <p:nvSpPr>
          <p:cNvPr id="70" name="Oval 69"/>
          <p:cNvSpPr/>
          <p:nvPr/>
        </p:nvSpPr>
        <p:spPr>
          <a:xfrm>
            <a:off x="6345936" y="4370832"/>
            <a:ext cx="41148" cy="41148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46520" y="4315968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内容触达、招商赋能与复购运营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484364" y="4233672"/>
            <a:ext cx="0" cy="137160"/>
          </a:xfrm>
          <a:prstGeom prst="line">
            <a:avLst/>
          </a:prstGeom>
          <a:ln w="10160">
            <a:solidFill>
              <a:srgbClr val="159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7447788" y="4334256"/>
            <a:ext cx="73152" cy="73152"/>
          </a:xfrm>
          <a:prstGeom prst="ellipse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006840" y="2724912"/>
            <a:ext cx="2624328" cy="1508760"/>
          </a:xfrm>
          <a:prstGeom prst="roundRect">
            <a:avLst/>
          </a:prstGeom>
          <a:solidFill>
            <a:srgbClr val="F4F0FF"/>
          </a:solidFill>
          <a:ln w="9525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153144" y="2852928"/>
            <a:ext cx="566928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0576" y="2857500"/>
            <a:ext cx="512064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1" i="0">
                <a:solidFill>
                  <a:srgbClr val="7D55C7"/>
                </a:solidFill>
                <a:latin typeface="Microsoft YaHei"/>
              </a:rPr>
              <a:t>ENABLE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19688" y="2825496"/>
            <a:ext cx="2560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7D55C7"/>
                </a:solidFill>
                <a:latin typeface="Microsoft YaHei"/>
              </a:rPr>
              <a:t>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53144" y="3136392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Microsoft YaHei"/>
              </a:rPr>
              <a:t>协同机制
与组织赋能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53144" y="3511296"/>
            <a:ext cx="23317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486581"/>
                </a:solidFill>
                <a:latin typeface="Microsoft YaHei"/>
              </a:rPr>
              <a:t>把高频、重复的工作流程化、模板化，提升总部与国家团队协同效率。</a:t>
            </a:r>
          </a:p>
        </p:txBody>
      </p:sp>
      <p:sp>
        <p:nvSpPr>
          <p:cNvPr id="80" name="Oval 79"/>
          <p:cNvSpPr/>
          <p:nvPr/>
        </p:nvSpPr>
        <p:spPr>
          <a:xfrm>
            <a:off x="9180576" y="3950207"/>
            <a:ext cx="41148" cy="41148"/>
          </a:xfrm>
          <a:prstGeom prst="ellipse">
            <a:avLst/>
          </a:prstGeom>
          <a:solidFill>
            <a:srgbClr val="7D5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81160" y="3895344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Marketing Workflow / Campaign SOP</a:t>
            </a:r>
          </a:p>
        </p:txBody>
      </p:sp>
      <p:sp>
        <p:nvSpPr>
          <p:cNvPr id="82" name="Oval 81"/>
          <p:cNvSpPr/>
          <p:nvPr/>
        </p:nvSpPr>
        <p:spPr>
          <a:xfrm>
            <a:off x="9180576" y="4160520"/>
            <a:ext cx="41148" cy="41148"/>
          </a:xfrm>
          <a:prstGeom prst="ellipse">
            <a:avLst/>
          </a:prstGeom>
          <a:solidFill>
            <a:srgbClr val="7D5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81160" y="4105656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跨部门推进、复盘与资源共享</a:t>
            </a:r>
          </a:p>
        </p:txBody>
      </p:sp>
      <p:sp>
        <p:nvSpPr>
          <p:cNvPr id="84" name="Oval 83"/>
          <p:cNvSpPr/>
          <p:nvPr/>
        </p:nvSpPr>
        <p:spPr>
          <a:xfrm>
            <a:off x="9180576" y="4370832"/>
            <a:ext cx="41148" cy="41148"/>
          </a:xfrm>
          <a:prstGeom prst="ellipse">
            <a:avLst/>
          </a:prstGeom>
          <a:solidFill>
            <a:srgbClr val="7D5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81160" y="4315968"/>
            <a:ext cx="221284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65" b="1" i="0">
                <a:solidFill>
                  <a:srgbClr val="324A61"/>
                </a:solidFill>
                <a:latin typeface="Microsoft YaHei"/>
              </a:rPr>
              <a:t>Brief 模板、案例库与 Best Practice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319004" y="4233672"/>
            <a:ext cx="0" cy="137160"/>
          </a:xfrm>
          <a:prstGeom prst="line">
            <a:avLst/>
          </a:prstGeom>
          <a:ln w="10160">
            <a:solidFill>
              <a:srgbClr val="7D5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0282428" y="4334256"/>
            <a:ext cx="73152" cy="73152"/>
          </a:xfrm>
          <a:prstGeom prst="ellipse">
            <a:avLst/>
          </a:prstGeom>
          <a:solidFill>
            <a:srgbClr val="7D5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02920" y="4389120"/>
            <a:ext cx="11183112" cy="694944"/>
          </a:xfrm>
          <a:prstGeom prst="roundRect">
            <a:avLst/>
          </a:prstGeom>
          <a:solidFill>
            <a:srgbClr val="102A43"/>
          </a:solidFill>
          <a:ln w="9525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00200" y="4389120"/>
            <a:ext cx="685800" cy="32004"/>
          </a:xfrm>
          <a:prstGeom prst="rect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4944" y="4517136"/>
            <a:ext cx="117043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1" i="0">
                <a:solidFill>
                  <a:srgbClr val="B9D1EF"/>
                </a:solidFill>
                <a:latin typeface="Microsoft YaHei"/>
              </a:rPr>
              <a:t>SHARED ASSET &amp;
METHODOLOGY HUB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47088" y="454456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FFFFFF"/>
                </a:solidFill>
                <a:latin typeface="Microsoft YaHei"/>
              </a:rPr>
              <a:t>营销资产与方法论中台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47088" y="4764024"/>
            <a:ext cx="196596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 i="0">
                <a:solidFill>
                  <a:srgbClr val="C6D8EC"/>
                </a:solidFill>
                <a:latin typeface="Microsoft YaHei"/>
              </a:rPr>
              <a:t>把项目经验沉淀为全局可调用的标准资产，支持多市场快速复制与持续优化。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995928" y="4544568"/>
            <a:ext cx="640080" cy="228600"/>
          </a:xfrm>
          <a:prstGeom prst="roundRect">
            <a:avLst/>
          </a:prstGeom>
          <a:solidFill>
            <a:srgbClr val="244F84"/>
          </a:solidFill>
          <a:ln w="9525">
            <a:solidFill>
              <a:srgbClr val="4B6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014215" y="4581144"/>
            <a:ext cx="603503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1" i="0">
                <a:solidFill>
                  <a:srgbClr val="F7FBFF"/>
                </a:solidFill>
                <a:latin typeface="Microsoft YaHei"/>
              </a:rPr>
              <a:t>营销日历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00016" y="4544568"/>
            <a:ext cx="914400" cy="228600"/>
          </a:xfrm>
          <a:prstGeom prst="roundRect">
            <a:avLst/>
          </a:prstGeom>
          <a:solidFill>
            <a:srgbClr val="244F84"/>
          </a:solidFill>
          <a:ln w="9525">
            <a:solidFill>
              <a:srgbClr val="4B6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18304" y="4581144"/>
            <a:ext cx="877824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1" i="0">
                <a:solidFill>
                  <a:srgbClr val="F7FBFF"/>
                </a:solidFill>
                <a:latin typeface="Microsoft YaHei"/>
              </a:rPr>
              <a:t>SOP / Workflow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678424" y="4544568"/>
            <a:ext cx="566928" cy="228600"/>
          </a:xfrm>
          <a:prstGeom prst="roundRect">
            <a:avLst/>
          </a:prstGeom>
          <a:solidFill>
            <a:srgbClr val="244F84"/>
          </a:solidFill>
          <a:ln w="9525">
            <a:solidFill>
              <a:srgbClr val="4B6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96712" y="4581144"/>
            <a:ext cx="53035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1" i="0">
                <a:solidFill>
                  <a:srgbClr val="F7FBFF"/>
                </a:solidFill>
                <a:latin typeface="Microsoft YaHei"/>
              </a:rPr>
              <a:t>Playbook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309360" y="4544568"/>
            <a:ext cx="475488" cy="228600"/>
          </a:xfrm>
          <a:prstGeom prst="roundRect">
            <a:avLst/>
          </a:prstGeom>
          <a:solidFill>
            <a:srgbClr val="244F84"/>
          </a:solidFill>
          <a:ln w="9525">
            <a:solidFill>
              <a:srgbClr val="4B6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27648" y="4581144"/>
            <a:ext cx="43891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1" i="0">
                <a:solidFill>
                  <a:srgbClr val="F7FBFF"/>
                </a:solidFill>
                <a:latin typeface="Microsoft YaHei"/>
              </a:rPr>
              <a:t>Toolkit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848856" y="4544568"/>
            <a:ext cx="566928" cy="228600"/>
          </a:xfrm>
          <a:prstGeom prst="roundRect">
            <a:avLst/>
          </a:prstGeom>
          <a:solidFill>
            <a:srgbClr val="244F84"/>
          </a:solidFill>
          <a:ln w="9525">
            <a:solidFill>
              <a:srgbClr val="4B6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67144" y="4581144"/>
            <a:ext cx="53035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1" i="0">
                <a:solidFill>
                  <a:srgbClr val="F7FBFF"/>
                </a:solidFill>
                <a:latin typeface="Microsoft YaHei"/>
              </a:rPr>
              <a:t>Checklist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479792" y="4544568"/>
            <a:ext cx="1143000" cy="228600"/>
          </a:xfrm>
          <a:prstGeom prst="roundRect">
            <a:avLst/>
          </a:prstGeom>
          <a:solidFill>
            <a:srgbClr val="244F84"/>
          </a:solidFill>
          <a:ln w="9525">
            <a:solidFill>
              <a:srgbClr val="4B6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98079" y="4581144"/>
            <a:ext cx="1106424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1" i="0">
                <a:solidFill>
                  <a:srgbClr val="F7FBFF"/>
                </a:solidFill>
                <a:latin typeface="Microsoft YaHei"/>
              </a:rPr>
              <a:t>Campaign / Design Brief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686800" y="4544568"/>
            <a:ext cx="658368" cy="228600"/>
          </a:xfrm>
          <a:prstGeom prst="roundRect">
            <a:avLst/>
          </a:prstGeom>
          <a:solidFill>
            <a:srgbClr val="244F84"/>
          </a:solidFill>
          <a:ln w="9525">
            <a:solidFill>
              <a:srgbClr val="4B6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705088" y="4581144"/>
            <a:ext cx="62179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1" i="0">
                <a:solidFill>
                  <a:srgbClr val="F7FBFF"/>
                </a:solidFill>
                <a:latin typeface="Microsoft YaHei"/>
              </a:rPr>
              <a:t>资产素材库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409176" y="4544568"/>
            <a:ext cx="1051560" cy="228600"/>
          </a:xfrm>
          <a:prstGeom prst="roundRect">
            <a:avLst/>
          </a:prstGeom>
          <a:solidFill>
            <a:srgbClr val="244F84"/>
          </a:solidFill>
          <a:ln w="9525">
            <a:solidFill>
              <a:srgbClr val="4B6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427463" y="4581144"/>
            <a:ext cx="1014983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1" i="0">
                <a:solidFill>
                  <a:srgbClr val="F7FBFF"/>
                </a:solidFill>
                <a:latin typeface="Microsoft YaHei"/>
              </a:rPr>
              <a:t>案例库 / Best Practice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524744" y="4544568"/>
            <a:ext cx="566928" cy="228600"/>
          </a:xfrm>
          <a:prstGeom prst="roundRect">
            <a:avLst/>
          </a:prstGeom>
          <a:solidFill>
            <a:srgbClr val="244F84"/>
          </a:solidFill>
          <a:ln w="9525">
            <a:solidFill>
              <a:srgbClr val="4B6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543032" y="4581144"/>
            <a:ext cx="53035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1" i="0">
                <a:solidFill>
                  <a:srgbClr val="F7FBFF"/>
                </a:solidFill>
                <a:latin typeface="Microsoft YaHei"/>
              </a:rPr>
              <a:t>复盘机制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2920" y="5349240"/>
            <a:ext cx="1554480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159A78"/>
                </a:solidFill>
                <a:latin typeface="Microsoft YaHei"/>
              </a:rPr>
              <a:t>ASSET REUSE LOOP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2920" y="5376672"/>
            <a:ext cx="164592" cy="22860"/>
          </a:xfrm>
          <a:prstGeom prst="rect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2920" y="5504688"/>
            <a:ext cx="5120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资产复用流程：从业务需求到方法论迭代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528048" y="5440680"/>
            <a:ext cx="2157984" cy="246888"/>
          </a:xfrm>
          <a:prstGeom prst="roundRect">
            <a:avLst/>
          </a:prstGeom>
          <a:solidFill>
            <a:srgbClr val="F0FAF6"/>
          </a:solidFill>
          <a:ln w="9525">
            <a:solidFill>
              <a:srgbClr val="DB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01200" y="5500116"/>
            <a:ext cx="2011680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47C63"/>
                </a:solidFill>
                <a:latin typeface="Microsoft YaHei"/>
              </a:rPr>
              <a:t>总部统一框架 + 国家本地化执行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02920" y="5797296"/>
            <a:ext cx="1746504" cy="5760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02920" y="5897880"/>
            <a:ext cx="32004" cy="374904"/>
          </a:xfrm>
          <a:prstGeom prst="rect">
            <a:avLst/>
          </a:prstGeom>
          <a:solidFill>
            <a:srgbClr val="3D6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1792" y="5888736"/>
            <a:ext cx="914400" cy="91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>
                <a:solidFill>
                  <a:srgbClr val="8AA0B6"/>
                </a:solidFill>
                <a:latin typeface="Microsoft YaHei"/>
              </a:rPr>
              <a:t>STEP 01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" y="5998464"/>
            <a:ext cx="1417320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A43"/>
                </a:solidFill>
                <a:latin typeface="Microsoft YaHei"/>
              </a:rPr>
              <a:t>业务输入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" y="6135624"/>
            <a:ext cx="149047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7189A1"/>
                </a:solidFill>
                <a:latin typeface="Microsoft YaHei"/>
              </a:rPr>
              <a:t>明确业务目标、国家需求、产品与门店节奏、增长机会。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72284" y="6025896"/>
            <a:ext cx="9144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AA0B6"/>
                </a:solidFill>
                <a:latin typeface="Microsoft YaHei"/>
              </a:rPr>
              <a:t>→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372868" y="5797296"/>
            <a:ext cx="1746504" cy="5760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372868" y="5897880"/>
            <a:ext cx="32004" cy="374904"/>
          </a:xfrm>
          <a:prstGeom prst="rect">
            <a:avLst/>
          </a:prstGeom>
          <a:solidFill>
            <a:srgbClr val="E86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91739" y="5888736"/>
            <a:ext cx="914400" cy="91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>
                <a:solidFill>
                  <a:srgbClr val="8AA0B6"/>
                </a:solidFill>
                <a:latin typeface="Microsoft YaHei"/>
              </a:rPr>
              <a:t>STEP 02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491739" y="5998464"/>
            <a:ext cx="1417320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A43"/>
                </a:solidFill>
                <a:latin typeface="Microsoft YaHei"/>
              </a:rPr>
              <a:t>策略设计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491739" y="6135624"/>
            <a:ext cx="149047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7189A1"/>
                </a:solidFill>
                <a:latin typeface="Microsoft YaHei"/>
              </a:rPr>
              <a:t>形成营销日历、整合营销策略、资源优先级与项目方案。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142232" y="6025896"/>
            <a:ext cx="9144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AA0B6"/>
                </a:solidFill>
                <a:latin typeface="Microsoft YaHei"/>
              </a:rPr>
              <a:t>→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242816" y="5797296"/>
            <a:ext cx="1746504" cy="5760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2816" y="5897880"/>
            <a:ext cx="32004" cy="374904"/>
          </a:xfrm>
          <a:prstGeom prst="rect">
            <a:avLst/>
          </a:prstGeom>
          <a:solidFill>
            <a:srgbClr val="7D5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361688" y="5888736"/>
            <a:ext cx="914400" cy="91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>
                <a:solidFill>
                  <a:srgbClr val="8AA0B6"/>
                </a:solidFill>
                <a:latin typeface="Microsoft YaHei"/>
              </a:rPr>
              <a:t>STEP 03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361688" y="5998464"/>
            <a:ext cx="1417320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A43"/>
                </a:solidFill>
                <a:latin typeface="Microsoft YaHei"/>
              </a:rPr>
              <a:t>标准资产包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61688" y="6135624"/>
            <a:ext cx="149047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7189A1"/>
                </a:solidFill>
                <a:latin typeface="Microsoft YaHei"/>
              </a:rPr>
              <a:t>输出 Playbook、Toolkit、Brief、Checklist 与标准流程。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012180" y="6025896"/>
            <a:ext cx="9144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AA0B6"/>
                </a:solidFill>
                <a:latin typeface="Microsoft YaHei"/>
              </a:rPr>
              <a:t>→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112764" y="5797296"/>
            <a:ext cx="1746504" cy="5760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112764" y="5897880"/>
            <a:ext cx="32004" cy="374904"/>
          </a:xfrm>
          <a:prstGeom prst="rect">
            <a:avLst/>
          </a:prstGeom>
          <a:solidFill>
            <a:srgbClr val="D79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31636" y="5888736"/>
            <a:ext cx="914400" cy="91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>
                <a:solidFill>
                  <a:srgbClr val="8AA0B6"/>
                </a:solidFill>
                <a:latin typeface="Microsoft YaHei"/>
              </a:rPr>
              <a:t>STEP 04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231636" y="5998464"/>
            <a:ext cx="1417320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A43"/>
                </a:solidFill>
                <a:latin typeface="Microsoft YaHei"/>
              </a:rPr>
              <a:t>本地化落地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231636" y="6135624"/>
            <a:ext cx="149047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7189A1"/>
                </a:solidFill>
                <a:latin typeface="Microsoft YaHei"/>
              </a:rPr>
              <a:t>结合国家文化、渠道结构、消费者习惯与门店场景适配执行。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882127" y="6025896"/>
            <a:ext cx="9144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AA0B6"/>
                </a:solidFill>
                <a:latin typeface="Microsoft YaHei"/>
              </a:rPr>
              <a:t>→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982712" y="5797296"/>
            <a:ext cx="1746504" cy="5760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982712" y="5897880"/>
            <a:ext cx="32004" cy="374904"/>
          </a:xfrm>
          <a:prstGeom prst="rect">
            <a:avLst/>
          </a:prstGeom>
          <a:solidFill>
            <a:srgbClr val="15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101584" y="5888736"/>
            <a:ext cx="914400" cy="91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>
                <a:solidFill>
                  <a:srgbClr val="8AA0B6"/>
                </a:solidFill>
                <a:latin typeface="Microsoft YaHei"/>
              </a:rPr>
              <a:t>STEP 05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101584" y="5998464"/>
            <a:ext cx="1417320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A43"/>
                </a:solidFill>
                <a:latin typeface="Microsoft YaHei"/>
              </a:rPr>
              <a:t>数据验证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101584" y="6135624"/>
            <a:ext cx="149047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7189A1"/>
                </a:solidFill>
                <a:latin typeface="Microsoft YaHei"/>
              </a:rPr>
              <a:t>追踪业绩、客流、用户、声量与渠道效率，验证增长效果。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752076" y="6025896"/>
            <a:ext cx="9144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AA0B6"/>
                </a:solidFill>
                <a:latin typeface="Microsoft YaHei"/>
              </a:rPr>
              <a:t>→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852660" y="5797296"/>
            <a:ext cx="1746504" cy="5760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852660" y="5897880"/>
            <a:ext cx="32004" cy="374904"/>
          </a:xfrm>
          <a:prstGeom prst="rect">
            <a:avLst/>
          </a:prstGeom>
          <a:solidFill>
            <a:srgbClr val="285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971532" y="5888736"/>
            <a:ext cx="914400" cy="91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>
                <a:solidFill>
                  <a:srgbClr val="8AA0B6"/>
                </a:solidFill>
                <a:latin typeface="Microsoft YaHei"/>
              </a:rPr>
              <a:t>STEP 06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971532" y="5998464"/>
            <a:ext cx="1417320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A43"/>
                </a:solidFill>
                <a:latin typeface="Microsoft YaHei"/>
              </a:rPr>
              <a:t>复盘沉淀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971532" y="6135624"/>
            <a:ext cx="149047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7189A1"/>
                </a:solidFill>
                <a:latin typeface="Microsoft YaHei"/>
              </a:rPr>
              <a:t>沉淀案例、更新 SOP 与模板，形成可复制的 Best Practice。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0927080" y="6400800"/>
            <a:ext cx="0" cy="36576"/>
          </a:xfrm>
          <a:prstGeom prst="line">
            <a:avLst/>
          </a:prstGeom>
          <a:ln w="10160">
            <a:solidFill>
              <a:srgbClr val="B9C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658368" y="6437376"/>
            <a:ext cx="10268712" cy="0"/>
          </a:xfrm>
          <a:prstGeom prst="line">
            <a:avLst/>
          </a:prstGeom>
          <a:ln w="10160">
            <a:solidFill>
              <a:srgbClr val="B9C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658368" y="6400800"/>
            <a:ext cx="0" cy="36576"/>
          </a:xfrm>
          <a:prstGeom prst="line">
            <a:avLst/>
          </a:prstGeom>
          <a:ln w="10160">
            <a:solidFill>
              <a:srgbClr val="B9C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3794760" y="6387084"/>
            <a:ext cx="457200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356783"/>
                </a:solidFill>
                <a:latin typeface="Microsoft YaHei"/>
              </a:rPr>
              <a:t>复盘反馈 → 更新资产 → 进入下一轮策略与落地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502920" y="6547104"/>
            <a:ext cx="987552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7189A1"/>
                </a:solidFill>
                <a:latin typeface="Microsoft YaHei"/>
              </a:rPr>
              <a:t>核心原则：一次建设，多国复用；统一框架，本地适配。所有模块、文本、卡片、流程箭头均可在 PowerPoint 中编辑。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018520" y="6519672"/>
            <a:ext cx="64008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189A1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